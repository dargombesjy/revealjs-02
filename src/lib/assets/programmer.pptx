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35.jp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10" Type="http://schemas.openxmlformats.org/officeDocument/2006/relationships/image" Target="../media/image28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1.jpg"/><Relationship Id="rId8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09600" y="4577655"/>
            <a:ext cx="6667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577655"/>
            <a:ext cx="6667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105150" y="4815780"/>
            <a:ext cx="9525" cy="3524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251769"/>
            <a:ext cx="9101137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Mengenal Profesi </a:t>
            </a:r>
            <a:r>
              <a:rPr b="1" i="0" lang="en-US" sz="405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Programmer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3625155"/>
            <a:ext cx="695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Bagaimana kode komputer mengubah ide menjadi aplikasi, sistem integrasi, dan solusi digital yang membantu jutaan orang setiap hari.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09600" y="2771775"/>
            <a:ext cx="3505200" cy="2314575"/>
          </a:xfrm>
          <a:prstGeom prst="roundRect">
            <a:avLst>
              <a:gd fmla="val 65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343400" y="2771775"/>
            <a:ext cx="3505200" cy="2314575"/>
          </a:xfrm>
          <a:prstGeom prst="roundRect">
            <a:avLst>
              <a:gd fmla="val 65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077200" y="2771775"/>
            <a:ext cx="3505200" cy="2314575"/>
          </a:xfrm>
          <a:prstGeom prst="roundRect">
            <a:avLst>
              <a:gd fmla="val 65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086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086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0861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1562" y="3209925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2975" y="320992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9162" y="3209925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LATAR BELAKANG PROFESI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Mengapa Dunia Sangat Membutuhkan Programmer?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23925" y="373380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Kehidupan Serba Digital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3925" y="408622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 game, media sosial, hingga e-commerce bekerja karena racikan kode programmer.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7725" y="373380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Otomatisasi Perusahaan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657725" y="408622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Perusahaan besar membutuhkan sistem komputer agar operasional lebih cepat dan akurat.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91525" y="3733800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Penyelesai Masalah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91525" y="4086225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Programmer menciptakan solusi otomatisasi untuk mempermudah pekerjaan manusia sehari-hari.</a:t>
            </a:r>
            <a:endParaRPr/>
          </a:p>
        </p:txBody>
      </p:sp>
      <p:pic>
        <p:nvPicPr>
          <p:cNvPr id="111" name="Google Shape;111;p14" title="POS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1125" y="1266825"/>
            <a:ext cx="5204000" cy="52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609600" y="2807493"/>
            <a:ext cx="3505200" cy="2205037"/>
          </a:xfrm>
          <a:prstGeom prst="roundRect">
            <a:avLst>
              <a:gd fmla="val 69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343400" y="2807493"/>
            <a:ext cx="3505200" cy="2205037"/>
          </a:xfrm>
          <a:prstGeom prst="roundRect">
            <a:avLst>
              <a:gd fmla="val 69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077200" y="2914650"/>
            <a:ext cx="3505200" cy="1990725"/>
          </a:xfrm>
          <a:prstGeom prst="roundRect">
            <a:avLst>
              <a:gd fmla="val 765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9600" y="2807493"/>
            <a:ext cx="38100" cy="2205037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343400" y="2807493"/>
            <a:ext cx="38100" cy="220503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077200" y="2914650"/>
            <a:ext cx="38100" cy="19907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074193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3074193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31813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MEMBERSIHKAN JENIS PROGRAMMER (BAGIAN 1)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Pengembang Aplikasi &amp; Web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4400" y="3493293"/>
            <a:ext cx="38504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Fullstack Web Developer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3807618"/>
            <a:ext cx="3667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Tampilan Depan &amp; Mesin Belakang Web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4102893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Menguasai desain halaman web yang dilihat pengguna sekaligus mengelola database di server.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48200" y="3493293"/>
            <a:ext cx="38504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 App Developer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48200" y="3807618"/>
            <a:ext cx="3667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 Smartphone (Android &amp; iOS)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48200" y="4102893"/>
            <a:ext cx="30289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Merancang aplikasi ringan, cepat, dan responsif untuk dipakai langsung di ponsel pintar.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82000" y="3600450"/>
            <a:ext cx="3810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Game Developer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2000" y="3914775"/>
            <a:ext cx="3667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Dunia Permainan &amp; Grafis Interaktif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2000" y="4210050"/>
            <a:ext cx="3028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Menulis aturan logika game, fisika karakter, dan alur permainan agar seru dimainkan.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609600" y="2586037"/>
            <a:ext cx="6400800" cy="1209675"/>
          </a:xfrm>
          <a:prstGeom prst="roundRect">
            <a:avLst>
              <a:gd fmla="val 110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09600" y="3986212"/>
            <a:ext cx="6400800" cy="1209675"/>
          </a:xfrm>
          <a:prstGeom prst="roundRect">
            <a:avLst>
              <a:gd fmla="val 110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271712"/>
            <a:ext cx="42672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271712"/>
            <a:ext cx="42672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8432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42433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JENIS PROGRAMMER (BAGIAN 2)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Spesialis Enterprise &amp; Integrasi Sistem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47725" y="3128962"/>
            <a:ext cx="6019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Membuat program khusus untuk mengelola keuangan, stok barang, dan pabrik di perusahaan besar.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47725" y="4529137"/>
            <a:ext cx="6019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Penerjemah antar-sistem komputer. Menghubungkan aplikasi berbeda agar bisa bertukar data otomatis.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200150" y="2824162"/>
            <a:ext cx="38504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Developer (SAP ABAP)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181100" y="4224337"/>
            <a:ext cx="3400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Integration Specialist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609600" y="2705100"/>
            <a:ext cx="2571750" cy="2409825"/>
          </a:xfrm>
          <a:prstGeom prst="roundRect">
            <a:avLst>
              <a:gd fmla="val 6324" name="adj"/>
            </a:avLst>
          </a:prstGeom>
          <a:solidFill>
            <a:srgbClr val="F8FAFC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3409950" y="2814637"/>
            <a:ext cx="2571750" cy="2190750"/>
          </a:xfrm>
          <a:prstGeom prst="roundRect">
            <a:avLst>
              <a:gd fmla="val 6956" name="adj"/>
            </a:avLst>
          </a:prstGeom>
          <a:solidFill>
            <a:srgbClr val="F8FAFC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210300" y="2814637"/>
            <a:ext cx="2571750" cy="2190750"/>
          </a:xfrm>
          <a:prstGeom prst="roundRect">
            <a:avLst>
              <a:gd fmla="val 6956" name="adj"/>
            </a:avLst>
          </a:prstGeom>
          <a:solidFill>
            <a:srgbClr val="F8FAFC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9010650" y="2814637"/>
            <a:ext cx="2571750" cy="2190750"/>
          </a:xfrm>
          <a:prstGeom prst="roundRect">
            <a:avLst>
              <a:gd fmla="val 6956" name="adj"/>
            </a:avLst>
          </a:prstGeom>
          <a:solidFill>
            <a:srgbClr val="F8FAFC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29813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125" y="30908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9475" y="30908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29825" y="30908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1175" y="3133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2950" y="32432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53300" y="32432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53650" y="32432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KETERAMPILAN UTAMA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Skill Apa Saja yang Dibutuhkan?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0309" y="3705225"/>
            <a:ext cx="265033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 Pemecahan Masalah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33412" y="4238625"/>
            <a:ext cx="25241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Kemampuan berpikir runtut untuk menyelesaikan masalah langkah demi langkah.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370659" y="38147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Bahasa Pemrograman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433762" y="4129087"/>
            <a:ext cx="25241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Memahami instruksi koding seperti Python, JavaScript, Java, atau ABAP.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171009" y="38147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Kerja Sama Tim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234112" y="4129087"/>
            <a:ext cx="25241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Berkomunikasi efektif dengan tim desainer, manajer proyek, dan pengguna.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971359" y="3814762"/>
            <a:ext cx="2650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Bahasa Inggris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034462" y="4129087"/>
            <a:ext cx="25241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Membaca panduan teknis dan berkomunikasi dengan komunitas global.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609600" y="2962275"/>
            <a:ext cx="3321099" cy="1933575"/>
          </a:xfrm>
          <a:prstGeom prst="roundRect">
            <a:avLst>
              <a:gd fmla="val 78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435524" y="2962275"/>
            <a:ext cx="3321099" cy="1933575"/>
          </a:xfrm>
          <a:prstGeom prst="roundRect">
            <a:avLst>
              <a:gd fmla="val 78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261449" y="2962275"/>
            <a:ext cx="3321099" cy="1933575"/>
          </a:xfrm>
          <a:prstGeom prst="roundRect">
            <a:avLst>
              <a:gd fmla="val 78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5825" y="3238500"/>
            <a:ext cx="695325" cy="2286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711749" y="3238500"/>
            <a:ext cx="723900" cy="228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537674" y="3238500"/>
            <a:ext cx="723900" cy="2286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199" y="383381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7124" y="3833812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JALUR PENDIDIKAN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Langkah Menjadi Programmer Profesional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00125" y="327660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TAHAP 1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85825" y="3619500"/>
            <a:ext cx="36338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Sekolah Menengah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85825" y="3924300"/>
            <a:ext cx="346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SMK RPL / TKJ atau SMA IPA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85825" y="4219575"/>
            <a:ext cx="28638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Memulai dasar logika komputer, matematika dasar, dan pengenalan koding sederhana.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4826049" y="3276600"/>
            <a:ext cx="590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TAHAP 2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711749" y="3619500"/>
            <a:ext cx="36338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Perguruan Tinggi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711749" y="3924300"/>
            <a:ext cx="346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Teknik Informatika / Komputer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711749" y="4219575"/>
            <a:ext cx="28638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Mempelajari rekayasa perangkat lunak, struktur data, dan arsitektur sistem.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651974" y="3276600"/>
            <a:ext cx="590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TAHAP 3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537674" y="3619500"/>
            <a:ext cx="36338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Belajar Mandiri &amp; Kursus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537674" y="3924300"/>
            <a:ext cx="346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Bootcamp &amp; Sertifikasi Global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537674" y="4219575"/>
            <a:ext cx="28638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Membangun portofolio karya nyata dan mengikuti tren teknologi terbaru.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609600" y="2614612"/>
            <a:ext cx="5334000" cy="2590800"/>
          </a:xfrm>
          <a:prstGeom prst="roundRect">
            <a:avLst>
              <a:gd fmla="val 5882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248400" y="2614612"/>
            <a:ext cx="5334000" cy="2590800"/>
          </a:xfrm>
          <a:prstGeom prst="roundRect">
            <a:avLst>
              <a:gd fmla="val 5882" name="adj"/>
            </a:avLst>
          </a:prstGeom>
          <a:solidFill>
            <a:srgbClr val="FFF1F2"/>
          </a:solidFill>
          <a:ln cap="flat" cmpd="sng" w="9525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9289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34242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39766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45291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25" y="34242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25" y="39766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25" y="45291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SUKA &amp; DUKA PROFESI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78105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Sisi Seru dan Tantangan Jadi Programmer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304925" y="2928937"/>
            <a:ext cx="34754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Sisi Menyenangkan (Suka)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190625" y="3386137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Kepuasan Karya:</a:t>
            </a:r>
            <a:r>
              <a:rPr b="0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Bangga melihat aplikasi buatan sendiri dipakai banyak orang.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190625" y="3938587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Kerja Remot:</a:t>
            </a:r>
            <a:r>
              <a:rPr b="0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Bekerja dari mana saja selama ada laptop dan internet.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190625" y="4491037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Prospek Cerah:</a:t>
            </a:r>
            <a:r>
              <a:rPr b="0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Peluang kerja sangat luas dan gaji relatif tinggi.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943725" y="2928937"/>
            <a:ext cx="318789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Tantangan Nyata (Duka)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829425" y="3386137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Mencari Error (Bug):</a:t>
            </a:r>
            <a:r>
              <a:rPr b="0" i="0" lang="en-US" sz="12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Butuh kesabaran ekstra saat kode tidak berjalan lancar.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829425" y="3938587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Belajar Seumur Hidup:</a:t>
            </a:r>
            <a:r>
              <a:rPr b="0" i="0" lang="en-US" sz="12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Teknologi cepat berganti dan harus selalu belajar hal baru.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829425" y="4491037"/>
            <a:ext cx="4533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Duduk Lama:</a:t>
            </a:r>
            <a:r>
              <a:rPr b="0" i="0" lang="en-US" sz="120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Harus menjaga kesehatan karena banyak beraktivitas di depan layar.</a:t>
            </a:r>
            <a:endParaRPr/>
          </a:p>
        </p:txBody>
      </p:sp>
      <p:pic>
        <p:nvPicPr>
          <p:cNvPr descr="an image of a traveller with backpacks and small suitcase walk into airport, departure to another country for meeting or training" id="228" name="Google Shape;228;p19"/>
          <p:cNvPicPr preferRelativeResize="0"/>
          <p:nvPr/>
        </p:nvPicPr>
        <p:blipFill rotWithShape="1">
          <a:blip r:embed="rId7">
            <a:alphaModFix/>
          </a:blip>
          <a:srcRect b="0" l="0" r="5150" t="0"/>
          <a:stretch/>
        </p:blipFill>
        <p:spPr>
          <a:xfrm>
            <a:off x="609600" y="792950"/>
            <a:ext cx="5565251" cy="58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title="meeting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02730" y="792938"/>
            <a:ext cx="4987294" cy="62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609600" y="2662237"/>
            <a:ext cx="5845522" cy="2390775"/>
          </a:xfrm>
          <a:prstGeom prst="roundRect">
            <a:avLst>
              <a:gd fmla="val 637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683722" y="2591395"/>
            <a:ext cx="4898677" cy="2532459"/>
          </a:xfrm>
          <a:prstGeom prst="roundRect">
            <a:avLst>
              <a:gd fmla="val 60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76300" y="3195637"/>
            <a:ext cx="5312122" cy="1590675"/>
          </a:xfrm>
          <a:prstGeom prst="roundRect">
            <a:avLst>
              <a:gd fmla="val 479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959947" y="3986807"/>
            <a:ext cx="4346227" cy="400050"/>
          </a:xfrm>
          <a:prstGeom prst="roundRect">
            <a:avLst>
              <a:gd fmla="val 19047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9947" y="286762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AKTIVITAS INTERAKTIF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Uji Logika Koding: Mari Berpikir Seperti Komputer!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76300" y="2928937"/>
            <a:ext cx="66401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ALGORITMA SEDERHANA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028700" y="3348037"/>
            <a:ext cx="5102572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1. Ambil Gelas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2. </a:t>
            </a:r>
            <a:r>
              <a:rPr b="0" i="0" lang="en-US" sz="1125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JIKA</a:t>
            </a: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Teh Tersedia </a:t>
            </a:r>
            <a:r>
              <a:rPr b="0" i="0" lang="en-US" sz="1125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Tuang Teh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3. </a:t>
            </a:r>
            <a:r>
              <a:rPr b="0" i="0" lang="en-US" sz="1125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JIKA TIDAK</a:t>
            </a: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Tuang Air Putih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4. Tambahkan Gula 1 Sendok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5. Aduk Hingga Larut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959947" y="3286720"/>
            <a:ext cx="523205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Pertanyaan Diskusi: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959947" y="3620095"/>
            <a:ext cx="523205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Apa minuman yang jadi jika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Teh Habis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meja?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112347" y="4101107"/>
            <a:ext cx="41366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Jawab: Air Manis (Air Putih + Gula)!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959947" y="4501157"/>
            <a:ext cx="4441477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Komputer bekerja persis seperti logika ini: menjalankan perintah secara jujur dan runtut tanpa tebak-tebakan.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3B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3962400" y="4631977"/>
            <a:ext cx="4267200" cy="543000"/>
          </a:xfrm>
          <a:prstGeom prst="roundRect">
            <a:avLst>
              <a:gd fmla="val 50000" name="adj"/>
            </a:avLst>
          </a:prstGeom>
          <a:solidFill>
            <a:srgbClr val="2A2B4B"/>
          </a:solidFill>
          <a:ln cap="flat" cmpd="sng" w="9525">
            <a:solidFill>
              <a:srgbClr val="3A3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168309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2650" y="185454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1095375" y="2521297"/>
            <a:ext cx="10001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Siap Menjadi Kreator Teknologi Masa Depan?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2286000" y="3679477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"Teknologi bukan sekadar untuk dipakai, melainkan diciptakan untuk mempermudah hidup banyak orang."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3771900" y="4784377"/>
            <a:ext cx="4648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7D2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Terima Kasih • Ada Pertanyaan atau Diskusi?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666875" y="1038225"/>
            <a:ext cx="6834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https://teamcomputers.com/wp-content/uploads/2026/03/Blog-Feature-image-4-1.png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666875" y="1238250"/>
            <a:ext cx="2690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teamcomputers.com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